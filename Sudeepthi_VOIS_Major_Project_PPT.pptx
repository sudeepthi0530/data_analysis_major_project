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47" r:id="rId8"/>
    <p:sldId id="329" r:id="rId9"/>
    <p:sldId id="302" r:id="rId10"/>
    <p:sldId id="339" r:id="rId11"/>
    <p:sldId id="340" r:id="rId12"/>
    <p:sldId id="344" r:id="rId13"/>
    <p:sldId id="345" r:id="rId14"/>
    <p:sldId id="346"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979" autoAdjust="0"/>
    <p:restoredTop sz="95033" autoAdjust="0"/>
  </p:normalViewPr>
  <p:slideViewPr>
    <p:cSldViewPr snapToGrid="0">
      <p:cViewPr varScale="1">
        <p:scale>
          <a:sx n="82" d="100"/>
          <a:sy n="82" d="100"/>
        </p:scale>
        <p:origin x="95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6</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sudeepthi0530/Data_analysis_Major_projec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7" y="1192803"/>
            <a:ext cx="10240784" cy="1360454"/>
          </a:xfrm>
        </p:spPr>
        <p:txBody>
          <a:bodyPr>
            <a:normAutofit fontScale="90000"/>
          </a:bodyPr>
          <a:lstStyle/>
          <a:p>
            <a:pPr algn="ctr"/>
            <a:r>
              <a:rPr lang="en-GB" sz="3200" dirty="0">
                <a:latin typeface="Times New Roman" panose="02020603050405020304" pitchFamily="18" charset="0"/>
                <a:cs typeface="Times New Roman" panose="02020603050405020304" pitchFamily="18" charset="0"/>
              </a:rPr>
              <a:t>Project Title </a:t>
            </a:r>
            <a:br>
              <a:rPr lang="en-GB" sz="3200" dirty="0">
                <a:latin typeface="Times New Roman" panose="02020603050405020304" pitchFamily="18" charset="0"/>
                <a:cs typeface="Times New Roman" panose="02020603050405020304" pitchFamily="18" charset="0"/>
              </a:rPr>
            </a:br>
            <a:r>
              <a:rPr lang="en-IN" sz="4900" dirty="0">
                <a:solidFill>
                  <a:srgbClr val="C00000"/>
                </a:solidFill>
                <a:latin typeface="Times New Roman" panose="02020603050405020304" pitchFamily="18" charset="0"/>
                <a:cs typeface="Times New Roman" panose="02020603050405020304" pitchFamily="18" charset="0"/>
              </a:rPr>
              <a:t>Seasonal Agriculture Performance Analysis </a:t>
            </a:r>
            <a:br>
              <a:rPr lang="en-GB" sz="3200"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742720" y="4115293"/>
            <a:ext cx="5817106"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AICTE STU ID : STU6a66195853d111785076056</a:t>
            </a:r>
          </a:p>
          <a:p>
            <a:endParaRPr lang="en-US" b="1" dirty="0">
              <a:latin typeface="Times New Roman" panose="02020603050405020304" pitchFamily="18" charset="0"/>
              <a:cs typeface="Times New Roman" panose="02020603050405020304" pitchFamily="18" charset="0"/>
            </a:endParaRPr>
          </a:p>
        </p:txBody>
      </p:sp>
      <p:sp>
        <p:nvSpPr>
          <p:cNvPr id="8" name="Text Placeholder 7">
            <a:extLst>
              <a:ext uri="{FF2B5EF4-FFF2-40B4-BE49-F238E27FC236}">
                <a16:creationId xmlns:a16="http://schemas.microsoft.com/office/drawing/2014/main" id="{65F4EB2F-F9C8-9C67-B2F6-940C1AC4B941}"/>
              </a:ext>
            </a:extLst>
          </p:cNvPr>
          <p:cNvSpPr>
            <a:spLocks noGrp="1"/>
          </p:cNvSpPr>
          <p:nvPr>
            <p:ph type="body" sz="quarter" idx="11"/>
          </p:nvPr>
        </p:nvSpPr>
        <p:spPr>
          <a:xfrm>
            <a:off x="742721" y="3134114"/>
            <a:ext cx="7948055" cy="861497"/>
          </a:xfrm>
        </p:spPr>
        <p:txBody>
          <a:bodyPr>
            <a:normAutofit/>
          </a:bodyPr>
          <a:lstStyle/>
          <a:p>
            <a:r>
              <a:rPr lang="en-US" dirty="0">
                <a:solidFill>
                  <a:schemeClr val="tx1"/>
                </a:solidFill>
                <a:latin typeface="Times New Roman" panose="02020603050405020304" pitchFamily="18" charset="0"/>
                <a:cs typeface="Times New Roman" panose="02020603050405020304" pitchFamily="18" charset="0"/>
              </a:rPr>
              <a:t>Name: SUDEEPTHI</a:t>
            </a:r>
          </a:p>
          <a:p>
            <a:r>
              <a:rPr lang="en-US" dirty="0">
                <a:solidFill>
                  <a:schemeClr val="tx1"/>
                </a:solidFill>
                <a:latin typeface="Times New Roman" panose="02020603050405020304" pitchFamily="18" charset="0"/>
                <a:cs typeface="Times New Roman" panose="02020603050405020304" pitchFamily="18" charset="0"/>
              </a:rPr>
              <a:t>College Name: AJ Institute of Engineering and Technology Mangaluru</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73986" y="1625006"/>
            <a:ext cx="8733624" cy="3607987"/>
          </a:xfrm>
        </p:spPr>
        <p:txBody>
          <a:bodyPr vert="horz" lIns="91440" tIns="45720" rIns="91440" bIns="45720" rtlCol="0" anchor="t">
            <a:noAutofit/>
          </a:bodyPr>
          <a:lstStyle/>
          <a:p>
            <a:pPr marL="0" indent="0" algn="just">
              <a:lnSpc>
                <a:spcPct val="100000"/>
              </a:lnSpc>
              <a:buNone/>
            </a:pPr>
            <a:r>
              <a:rPr lang="en-IN" sz="2400" dirty="0">
                <a:latin typeface="Times New Roman" panose="02020603050405020304" pitchFamily="18" charset="0"/>
                <a:cs typeface="Times New Roman"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sz="4400" dirty="0">
                <a:latin typeface="Times New Roman" panose="02020603050405020304" pitchFamily="18" charset="0"/>
                <a:cs typeface="Times New Roman" panose="02020603050405020304" pitchFamily="18" charset="0"/>
              </a:rPr>
              <a:t>PROBLEM</a:t>
            </a:r>
            <a:r>
              <a:rPr lang="en-US" dirty="0">
                <a:latin typeface="Times New Roman" panose="02020603050405020304" pitchFamily="18" charset="0"/>
                <a:cs typeface="Times New Roman" panose="02020603050405020304" pitchFamily="18" charset="0"/>
              </a:rPr>
              <a:t>  STATEMENT</a:t>
            </a: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350298" y="280427"/>
            <a:ext cx="6276109" cy="538557"/>
          </a:xfrm>
        </p:spPr>
        <p:txBody>
          <a:bodyPr>
            <a:noAutofit/>
          </a:bodyPr>
          <a:lstStyle/>
          <a:p>
            <a:r>
              <a:rPr lang="en-GB" sz="2400" dirty="0">
                <a:latin typeface="Times New Roman" panose="02020603050405020304" pitchFamily="18" charset="0"/>
                <a:cs typeface="Times New Roman" panose="02020603050405020304" pitchFamily="18" charset="0"/>
              </a:rPr>
              <a:t>Project Description</a:t>
            </a:r>
            <a:br>
              <a:rPr lang="en-GB" sz="2400" dirty="0">
                <a:latin typeface="Times New Roman" panose="02020603050405020304" pitchFamily="18" charset="0"/>
                <a:cs typeface="Times New Roman" panose="02020603050405020304" pitchFamily="18" charset="0"/>
              </a:rPr>
            </a:br>
            <a:br>
              <a:rPr lang="en-GB"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Box 6">
            <a:extLst>
              <a:ext uri="{FF2B5EF4-FFF2-40B4-BE49-F238E27FC236}">
                <a16:creationId xmlns:a16="http://schemas.microsoft.com/office/drawing/2014/main" id="{0E21C7B1-39C4-C00A-90C1-3C1CA8AA12F6}"/>
              </a:ext>
            </a:extLst>
          </p:cNvPr>
          <p:cNvSpPr txBox="1"/>
          <p:nvPr/>
        </p:nvSpPr>
        <p:spPr>
          <a:xfrm>
            <a:off x="152401" y="880443"/>
            <a:ext cx="10911840" cy="5940088"/>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Seasonal Agriculture Performance Analysis is a data analytics project that studies agricultural activities across different seasons, geographical regions and farming conditions.</a:t>
            </a:r>
          </a:p>
          <a:p>
            <a:pPr algn="just"/>
            <a:r>
              <a:rPr lang="en-IN" sz="2000" dirty="0">
                <a:latin typeface="Times New Roman" panose="02020603050405020304" pitchFamily="18" charset="0"/>
                <a:cs typeface="Times New Roman" panose="02020603050405020304" pitchFamily="18" charset="0"/>
              </a:rPr>
              <a:t>The project uses agricultural data containing information about:</a:t>
            </a:r>
          </a:p>
          <a:p>
            <a:pPr marL="800100" lvl="1" indent="-342900" algn="just">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Crop and season </a:t>
            </a:r>
          </a:p>
          <a:p>
            <a:pPr marL="800100" lvl="1" indent="-342900" algn="just">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Geographical location </a:t>
            </a:r>
          </a:p>
          <a:p>
            <a:pPr marL="800100" lvl="1" indent="-342900" algn="just">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Rainfall and temperature </a:t>
            </a:r>
          </a:p>
          <a:p>
            <a:pPr marL="800100" lvl="1" indent="-342900" algn="just">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Soil conditions </a:t>
            </a:r>
          </a:p>
          <a:p>
            <a:pPr marL="800100" lvl="1" indent="-342900" algn="just">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Fertilizer and pesticide usage </a:t>
            </a:r>
          </a:p>
          <a:p>
            <a:pPr marL="800100" lvl="1" indent="-342900" algn="just">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Irrigation methods </a:t>
            </a:r>
          </a:p>
          <a:p>
            <a:pPr marL="800100" lvl="1" indent="-342900" algn="just">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Crop yield and production </a:t>
            </a:r>
          </a:p>
          <a:p>
            <a:pPr marL="800100" lvl="1" indent="-342900" algn="just">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Cost, revenue and profit </a:t>
            </a:r>
          </a:p>
          <a:p>
            <a:pPr marL="800100" lvl="1" indent="-342900" algn="just">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Water usage and efficiency </a:t>
            </a:r>
          </a:p>
          <a:p>
            <a:pPr marL="800100" lvl="1" indent="-342900" algn="just">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Disease and pest risk </a:t>
            </a:r>
          </a:p>
          <a:p>
            <a:pPr algn="just"/>
            <a:r>
              <a:rPr lang="en-IN" sz="2000" dirty="0">
                <a:latin typeface="Times New Roman" panose="02020603050405020304" pitchFamily="18" charset="0"/>
                <a:cs typeface="Times New Roman" panose="02020603050405020304" pitchFamily="18" charset="0"/>
              </a:rPr>
              <a:t>The dataset is cleaned and </a:t>
            </a:r>
            <a:r>
              <a:rPr lang="en-IN" sz="2000" dirty="0" err="1">
                <a:latin typeface="Times New Roman" panose="02020603050405020304" pitchFamily="18" charset="0"/>
                <a:cs typeface="Times New Roman" panose="02020603050405020304" pitchFamily="18" charset="0"/>
              </a:rPr>
              <a:t>analyzed</a:t>
            </a:r>
            <a:r>
              <a:rPr lang="en-IN" sz="2000" dirty="0">
                <a:latin typeface="Times New Roman" panose="02020603050405020304" pitchFamily="18" charset="0"/>
                <a:cs typeface="Times New Roman" panose="02020603050405020304" pitchFamily="18" charset="0"/>
              </a:rPr>
              <a:t> using Python to identify differences between seasons and discover relationships between environmental conditions, resource usage and agricultural outcomes.</a:t>
            </a:r>
          </a:p>
          <a:p>
            <a:pPr algn="just"/>
            <a:r>
              <a:rPr lang="en-IN" sz="2000" dirty="0">
                <a:latin typeface="Times New Roman" panose="02020603050405020304" pitchFamily="18" charset="0"/>
                <a:cs typeface="Times New Roman" panose="02020603050405020304" pitchFamily="18" charset="0"/>
              </a:rPr>
              <a:t>The final analysis provides </a:t>
            </a:r>
            <a:r>
              <a:rPr lang="en-IN" sz="2000" b="1" dirty="0">
                <a:latin typeface="Times New Roman" panose="02020603050405020304" pitchFamily="18" charset="0"/>
                <a:cs typeface="Times New Roman" panose="02020603050405020304" pitchFamily="18" charset="0"/>
              </a:rPr>
              <a:t>visualizations, statistical findings, conclusions and data-driven recommendations</a:t>
            </a:r>
            <a:r>
              <a:rPr lang="en-IN" sz="2000" dirty="0">
                <a:latin typeface="Times New Roman" panose="02020603050405020304" pitchFamily="18" charset="0"/>
                <a:cs typeface="Times New Roman" panose="02020603050405020304" pitchFamily="18" charset="0"/>
              </a:rPr>
              <a:t>.</a:t>
            </a:r>
          </a:p>
          <a:p>
            <a:pPr algn="just"/>
            <a:r>
              <a:rPr lang="en-IN" sz="2000" dirty="0">
                <a:latin typeface="Times New Roman" panose="02020603050405020304" pitchFamily="18" charset="0"/>
                <a:cs typeface="Times New Roman" panose="02020603050405020304" pitchFamily="18" charset="0"/>
              </a:rPr>
              <a:t>This is consistent with the dataset description and project objective</a:t>
            </a: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968C-26F6-3DD6-2E93-85160FC31AC4}"/>
              </a:ext>
            </a:extLst>
          </p:cNvPr>
          <p:cNvSpPr>
            <a:spLocks noGrp="1"/>
          </p:cNvSpPr>
          <p:nvPr>
            <p:ph type="ctrTitle"/>
          </p:nvPr>
        </p:nvSpPr>
        <p:spPr>
          <a:xfrm>
            <a:off x="948267" y="179494"/>
            <a:ext cx="7766936" cy="866986"/>
          </a:xfrm>
        </p:spPr>
        <p:txBody>
          <a:bodyPr/>
          <a:lstStyle/>
          <a:p>
            <a:pPr algn="l"/>
            <a:r>
              <a:rPr lang="en-US" sz="4000" b="1" dirty="0">
                <a:solidFill>
                  <a:schemeClr val="tx1"/>
                </a:solidFill>
                <a:latin typeface="Times New Roman" panose="02020603050405020304" pitchFamily="18" charset="0"/>
                <a:cs typeface="Times New Roman" panose="02020603050405020304" pitchFamily="18" charset="0"/>
              </a:rPr>
              <a:t>Objective</a:t>
            </a:r>
            <a:r>
              <a:rPr lang="en-US" dirty="0"/>
              <a:t> </a:t>
            </a:r>
            <a:endParaRPr lang="en-IN" dirty="0"/>
          </a:p>
        </p:txBody>
      </p:sp>
      <p:sp>
        <p:nvSpPr>
          <p:cNvPr id="3" name="Subtitle 2">
            <a:extLst>
              <a:ext uri="{FF2B5EF4-FFF2-40B4-BE49-F238E27FC236}">
                <a16:creationId xmlns:a16="http://schemas.microsoft.com/office/drawing/2014/main" id="{B1A123F3-6243-A026-777C-F99D0EB982D0}"/>
              </a:ext>
            </a:extLst>
          </p:cNvPr>
          <p:cNvSpPr>
            <a:spLocks noGrp="1"/>
          </p:cNvSpPr>
          <p:nvPr>
            <p:ph type="subTitle" idx="1"/>
          </p:nvPr>
        </p:nvSpPr>
        <p:spPr>
          <a:xfrm>
            <a:off x="701040" y="1188720"/>
            <a:ext cx="10251440" cy="5489786"/>
          </a:xfrm>
        </p:spPr>
        <p:txBody>
          <a:bodyPr>
            <a:normAutofit/>
          </a:bodyPr>
          <a:lstStyle/>
          <a:p>
            <a:pPr algn="just"/>
            <a:r>
              <a:rPr lang="en-IN" dirty="0">
                <a:solidFill>
                  <a:schemeClr val="tx1"/>
                </a:solidFill>
                <a:latin typeface="Times New Roman" panose="02020603050405020304" pitchFamily="18" charset="0"/>
                <a:cs typeface="Times New Roman" panose="02020603050405020304" pitchFamily="18" charset="0"/>
              </a:rPr>
              <a:t>The primary objective of this project is to </a:t>
            </a:r>
            <a:r>
              <a:rPr lang="en-IN" dirty="0" err="1">
                <a:solidFill>
                  <a:schemeClr val="tx1"/>
                </a:solidFill>
                <a:latin typeface="Times New Roman" panose="02020603050405020304" pitchFamily="18" charset="0"/>
                <a:cs typeface="Times New Roman" panose="02020603050405020304" pitchFamily="18" charset="0"/>
              </a:rPr>
              <a:t>analyze</a:t>
            </a:r>
            <a:r>
              <a:rPr lang="en-IN" dirty="0">
                <a:solidFill>
                  <a:schemeClr val="tx1"/>
                </a:solidFill>
                <a:latin typeface="Times New Roman" panose="02020603050405020304" pitchFamily="18" charset="0"/>
                <a:cs typeface="Times New Roman" panose="02020603050405020304" pitchFamily="18" charset="0"/>
              </a:rPr>
              <a:t> agricultural data from different seasons and identify meaningful patterns, trends, relationships and differences in agricultural performance. Students should independently: </a:t>
            </a:r>
          </a:p>
          <a:p>
            <a:pPr marL="285750" indent="-285750" algn="just">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 Explore and understand the dataset. </a:t>
            </a:r>
          </a:p>
          <a:p>
            <a:pPr marL="285750" indent="-285750" algn="just">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 Clean and prepare the data for analysis. </a:t>
            </a:r>
          </a:p>
          <a:p>
            <a:pPr marL="285750" indent="-285750" algn="just">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 Examine how agricultural performance varies across seasons. </a:t>
            </a:r>
          </a:p>
          <a:p>
            <a:pPr marL="285750" indent="-285750" algn="just">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 Identify important seasonal patterns and trends. </a:t>
            </a:r>
          </a:p>
          <a:p>
            <a:pPr marL="285750" indent="-285750" algn="just">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 Investigate relationships between seasonal conditions and agricultural outcomes. </a:t>
            </a:r>
          </a:p>
          <a:p>
            <a:pPr marL="285750" indent="-285750" algn="just">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 Compare relevant groups within different seasons. </a:t>
            </a:r>
          </a:p>
          <a:p>
            <a:pPr marL="285750" indent="-285750" algn="just">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 Identify significant differences or unusual patterns. </a:t>
            </a:r>
          </a:p>
          <a:p>
            <a:pPr marL="285750" indent="-285750" algn="just">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 Apply appropriate statistical and visualization techniques. </a:t>
            </a:r>
          </a:p>
          <a:p>
            <a:pPr marL="285750" indent="-285750" algn="just">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 Interpret findings based on evidence from the dataset. </a:t>
            </a:r>
          </a:p>
          <a:p>
            <a:pPr marL="285750" indent="-285750" algn="just">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 Develop meaningful conclusions and data-driven recommendations.</a:t>
            </a:r>
          </a:p>
        </p:txBody>
      </p:sp>
      <p:sp>
        <p:nvSpPr>
          <p:cNvPr id="4" name="Slide Number Placeholder 3">
            <a:extLst>
              <a:ext uri="{FF2B5EF4-FFF2-40B4-BE49-F238E27FC236}">
                <a16:creationId xmlns:a16="http://schemas.microsoft.com/office/drawing/2014/main" id="{553F34AA-28B1-5175-730D-B8EC087F55C3}"/>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3766690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203199" y="914400"/>
            <a:ext cx="10596881" cy="5090160"/>
          </a:xfrm>
        </p:spPr>
        <p:txBody>
          <a:bodyPr>
            <a:noAutofit/>
          </a:bodyPr>
          <a:lstStyle/>
          <a:p>
            <a:pPr marL="0" indent="0">
              <a:buNone/>
            </a:pPr>
            <a:r>
              <a:rPr lang="en-IN" b="1" dirty="0">
                <a:latin typeface="Times New Roman" panose="02020603050405020304" pitchFamily="18" charset="0"/>
                <a:cs typeface="Times New Roman" panose="02020603050405020304" pitchFamily="18" charset="0"/>
              </a:rPr>
              <a:t>1. Farmers</a:t>
            </a:r>
          </a:p>
          <a:p>
            <a:pPr marL="0" lvl="0" indent="0">
              <a:buNone/>
            </a:pPr>
            <a:r>
              <a:rPr lang="en-IN" dirty="0">
                <a:latin typeface="Times New Roman" panose="02020603050405020304" pitchFamily="18" charset="0"/>
                <a:cs typeface="Times New Roman" panose="02020603050405020304" pitchFamily="18" charset="0"/>
              </a:rPr>
              <a:t>	Understand seasonal crop performance. </a:t>
            </a:r>
          </a:p>
          <a:p>
            <a:pPr marL="0" lvl="0" indent="0">
              <a:buNone/>
            </a:pPr>
            <a:r>
              <a:rPr lang="en-IN" dirty="0">
                <a:latin typeface="Times New Roman" panose="02020603050405020304" pitchFamily="18" charset="0"/>
                <a:cs typeface="Times New Roman" panose="02020603050405020304" pitchFamily="18" charset="0"/>
              </a:rPr>
              <a:t>	Support better crop and resource planning. </a:t>
            </a:r>
          </a:p>
          <a:p>
            <a:pPr marL="0" indent="0">
              <a:buNone/>
            </a:pPr>
            <a:r>
              <a:rPr lang="en-IN" b="1" dirty="0">
                <a:latin typeface="Times New Roman" panose="02020603050405020304" pitchFamily="18" charset="0"/>
                <a:cs typeface="Times New Roman" panose="02020603050405020304" pitchFamily="18" charset="0"/>
              </a:rPr>
              <a:t>2. Agricultural Planners</a:t>
            </a:r>
            <a:endParaRPr lang="en-IN" dirty="0">
              <a:latin typeface="Times New Roman" panose="02020603050405020304" pitchFamily="18" charset="0"/>
              <a:cs typeface="Times New Roman" panose="02020603050405020304" pitchFamily="18" charset="0"/>
            </a:endParaRPr>
          </a:p>
          <a:p>
            <a:pPr marL="0" lvl="0" indent="0">
              <a:buNone/>
            </a:pPr>
            <a:r>
              <a:rPr lang="en-IN" dirty="0">
                <a:latin typeface="Times New Roman" panose="02020603050405020304" pitchFamily="18" charset="0"/>
                <a:cs typeface="Times New Roman" panose="02020603050405020304" pitchFamily="18" charset="0"/>
              </a:rPr>
              <a:t>	Compare agricultural performance across seasons and regions. </a:t>
            </a:r>
          </a:p>
          <a:p>
            <a:pPr marL="0" lvl="0" indent="0">
              <a:buNone/>
            </a:pPr>
            <a:r>
              <a:rPr lang="en-IN" dirty="0">
                <a:latin typeface="Times New Roman" panose="02020603050405020304" pitchFamily="18" charset="0"/>
                <a:cs typeface="Times New Roman" panose="02020603050405020304" pitchFamily="18" charset="0"/>
              </a:rPr>
              <a:t>	Support seasonal planning decisions. </a:t>
            </a:r>
          </a:p>
          <a:p>
            <a:pPr marL="0" indent="0">
              <a:buNone/>
            </a:pPr>
            <a:r>
              <a:rPr lang="en-IN" b="1" dirty="0">
                <a:latin typeface="Times New Roman" panose="02020603050405020304" pitchFamily="18" charset="0"/>
                <a:cs typeface="Times New Roman" panose="02020603050405020304" pitchFamily="18" charset="0"/>
              </a:rPr>
              <a:t>3. Agricultural Researchers</a:t>
            </a:r>
            <a:endParaRPr lang="en-IN" dirty="0">
              <a:latin typeface="Times New Roman" panose="02020603050405020304" pitchFamily="18" charset="0"/>
              <a:cs typeface="Times New Roman" panose="02020603050405020304" pitchFamily="18" charset="0"/>
            </a:endParaRPr>
          </a:p>
          <a:p>
            <a:pPr marL="0" lvl="0" indent="0">
              <a:buNone/>
            </a:pPr>
            <a:r>
              <a:rPr lang="en-IN" dirty="0">
                <a:latin typeface="Times New Roman" panose="02020603050405020304" pitchFamily="18" charset="0"/>
                <a:cs typeface="Times New Roman" panose="02020603050405020304" pitchFamily="18" charset="0"/>
              </a:rPr>
              <a:t>	Study relationships between environmental conditions and crop outcomes. </a:t>
            </a:r>
          </a:p>
          <a:p>
            <a:pPr marL="0" indent="0">
              <a:buNone/>
            </a:pPr>
            <a:r>
              <a:rPr lang="en-IN" b="1" dirty="0">
                <a:latin typeface="Times New Roman" panose="02020603050405020304" pitchFamily="18" charset="0"/>
                <a:cs typeface="Times New Roman" panose="02020603050405020304" pitchFamily="18" charset="0"/>
              </a:rPr>
              <a:t>4. Government / Agricultural Departments</a:t>
            </a:r>
            <a:endParaRPr lang="en-IN" dirty="0">
              <a:latin typeface="Times New Roman" panose="02020603050405020304" pitchFamily="18" charset="0"/>
              <a:cs typeface="Times New Roman" panose="02020603050405020304" pitchFamily="18" charset="0"/>
            </a:endParaRPr>
          </a:p>
          <a:p>
            <a:pPr marL="0" lvl="0" indent="0">
              <a:buNone/>
            </a:pPr>
            <a:r>
              <a:rPr lang="en-IN" dirty="0">
                <a:latin typeface="Times New Roman" panose="02020603050405020304" pitchFamily="18" charset="0"/>
                <a:cs typeface="Times New Roman" panose="02020603050405020304" pitchFamily="18" charset="0"/>
              </a:rPr>
              <a:t>	Use data-driven insights for agricultural planning and resource management. </a:t>
            </a:r>
          </a:p>
          <a:p>
            <a:pPr marL="0" indent="0">
              <a:buNone/>
            </a:pPr>
            <a:r>
              <a:rPr lang="en-IN" b="1" dirty="0">
                <a:latin typeface="Times New Roman" panose="02020603050405020304" pitchFamily="18" charset="0"/>
                <a:cs typeface="Times New Roman" panose="02020603050405020304" pitchFamily="18" charset="0"/>
              </a:rPr>
              <a:t>5. Data Analysts</a:t>
            </a:r>
            <a:endParaRPr lang="en-IN" dirty="0">
              <a:latin typeface="Times New Roman" panose="02020603050405020304" pitchFamily="18" charset="0"/>
              <a:cs typeface="Times New Roman" panose="02020603050405020304" pitchFamily="18" charset="0"/>
            </a:endParaRPr>
          </a:p>
          <a:p>
            <a:pPr marL="0" lvl="0" indent="0">
              <a:buNone/>
            </a:pPr>
            <a:r>
              <a:rPr lang="en-IN" dirty="0">
                <a:latin typeface="Times New Roman" panose="02020603050405020304" pitchFamily="18" charset="0"/>
                <a:cs typeface="Times New Roman" panose="02020603050405020304" pitchFamily="18" charset="0"/>
              </a:rPr>
              <a:t>	Use the dataset for agricultural trend and performance analysis.</a:t>
            </a:r>
          </a:p>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112008" y="195421"/>
            <a:ext cx="10046070" cy="802641"/>
          </a:xfrm>
        </p:spPr>
        <p:txBody>
          <a:bodyPr>
            <a:normAutofit/>
          </a:bodyPr>
          <a:lstStyle/>
          <a:p>
            <a:r>
              <a:rPr lang="en-US" sz="2800" dirty="0">
                <a:latin typeface="Times New Roman" panose="02020603050405020304" pitchFamily="18" charset="0"/>
                <a:cs typeface="Times New Roman" panose="02020603050405020304" pitchFamily="18" charset="0"/>
              </a:rPr>
              <a:t>WHO ARE THE END USERS?</a:t>
            </a:r>
            <a:endParaRPr lang="en-IN" sz="2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8" end="8"/>
                                            </p:txEl>
                                          </p:spTgt>
                                        </p:tgtEl>
                                        <p:attrNameLst>
                                          <p:attrName>style.visibility</p:attrName>
                                        </p:attrNameLst>
                                      </p:cBhvr>
                                      <p:to>
                                        <p:strVal val="visible"/>
                                      </p:to>
                                    </p:set>
                                    <p:animEffect transition="in" filter="fade">
                                      <p:cBhvr>
                                        <p:cTn id="70" dur="1000"/>
                                        <p:tgtEl>
                                          <p:spTgt spid="2">
                                            <p:txEl>
                                              <p:pRg st="8" end="8"/>
                                            </p:txEl>
                                          </p:spTgt>
                                        </p:tgtEl>
                                      </p:cBhvr>
                                    </p:animEffect>
                                    <p:anim calcmode="lin" valueType="num">
                                      <p:cBhvr>
                                        <p:cTn id="71"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
                                            <p:txEl>
                                              <p:pRg st="9" end="9"/>
                                            </p:txEl>
                                          </p:spTgt>
                                        </p:tgtEl>
                                        <p:attrNameLst>
                                          <p:attrName>style.visibility</p:attrName>
                                        </p:attrNameLst>
                                      </p:cBhvr>
                                      <p:to>
                                        <p:strVal val="visible"/>
                                      </p:to>
                                    </p:set>
                                    <p:animEffect transition="in" filter="fade">
                                      <p:cBhvr>
                                        <p:cTn id="77" dur="1000"/>
                                        <p:tgtEl>
                                          <p:spTgt spid="2">
                                            <p:txEl>
                                              <p:pRg st="9" end="9"/>
                                            </p:txEl>
                                          </p:spTgt>
                                        </p:tgtEl>
                                      </p:cBhvr>
                                    </p:animEffect>
                                    <p:anim calcmode="lin" valueType="num">
                                      <p:cBhvr>
                                        <p:cTn id="78"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
                                            <p:txEl>
                                              <p:pRg st="10" end="10"/>
                                            </p:txEl>
                                          </p:spTgt>
                                        </p:tgtEl>
                                        <p:attrNameLst>
                                          <p:attrName>style.visibility</p:attrName>
                                        </p:attrNameLst>
                                      </p:cBhvr>
                                      <p:to>
                                        <p:strVal val="visible"/>
                                      </p:to>
                                    </p:set>
                                    <p:animEffect transition="in" filter="fade">
                                      <p:cBhvr>
                                        <p:cTn id="84" dur="1000"/>
                                        <p:tgtEl>
                                          <p:spTgt spid="2">
                                            <p:txEl>
                                              <p:pRg st="10" end="10"/>
                                            </p:txEl>
                                          </p:spTgt>
                                        </p:tgtEl>
                                      </p:cBhvr>
                                    </p:animEffect>
                                    <p:anim calcmode="lin" valueType="num">
                                      <p:cBhvr>
                                        <p:cTn id="85"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
                                            <p:txEl>
                                              <p:pRg st="11" end="11"/>
                                            </p:txEl>
                                          </p:spTgt>
                                        </p:tgtEl>
                                        <p:attrNameLst>
                                          <p:attrName>style.visibility</p:attrName>
                                        </p:attrNameLst>
                                      </p:cBhvr>
                                      <p:to>
                                        <p:strVal val="visible"/>
                                      </p:to>
                                    </p:set>
                                    <p:animEffect transition="in" filter="fade">
                                      <p:cBhvr>
                                        <p:cTn id="91" dur="1000"/>
                                        <p:tgtEl>
                                          <p:spTgt spid="2">
                                            <p:txEl>
                                              <p:pRg st="11" end="11"/>
                                            </p:txEl>
                                          </p:spTgt>
                                        </p:tgtEl>
                                      </p:cBhvr>
                                    </p:animEffect>
                                    <p:anim calcmode="lin" valueType="num">
                                      <p:cBhvr>
                                        <p:cTn id="92"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2">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660399" y="1069702"/>
            <a:ext cx="8879840" cy="2235201"/>
          </a:xfrm>
        </p:spPr>
        <p:txBody>
          <a:bodyPr>
            <a:normAutofit/>
          </a:bodyPr>
          <a:lstStyle/>
          <a:p>
            <a:pPr marL="0" indent="0">
              <a:buNone/>
            </a:pPr>
            <a:r>
              <a:rPr lang="en-IN" sz="1800" b="1" dirty="0">
                <a:latin typeface="Times New Roman" panose="02020603050405020304" pitchFamily="18" charset="0"/>
                <a:cs typeface="Times New Roman" panose="02020603050405020304" pitchFamily="18" charset="0"/>
              </a:rPr>
              <a:t>Programming Language :</a:t>
            </a:r>
            <a:r>
              <a:rPr lang="en-IN" sz="1800" dirty="0">
                <a:latin typeface="Times New Roman" panose="02020603050405020304" pitchFamily="18" charset="0"/>
                <a:cs typeface="Times New Roman" panose="02020603050405020304" pitchFamily="18" charset="0"/>
              </a:rPr>
              <a:t>Python </a:t>
            </a:r>
          </a:p>
          <a:p>
            <a:pPr marL="0" indent="0">
              <a:buNone/>
            </a:pPr>
            <a:r>
              <a:rPr lang="en-IN" sz="1800" b="1" dirty="0">
                <a:latin typeface="Times New Roman" panose="02020603050405020304" pitchFamily="18" charset="0"/>
                <a:cs typeface="Times New Roman" panose="02020603050405020304" pitchFamily="18" charset="0"/>
              </a:rPr>
              <a:t>Libraries: </a:t>
            </a:r>
            <a:r>
              <a:rPr lang="en-IN" sz="1800" dirty="0">
                <a:latin typeface="Times New Roman" panose="02020603050405020304" pitchFamily="18" charset="0"/>
                <a:cs typeface="Times New Roman" panose="02020603050405020304" pitchFamily="18" charset="0"/>
              </a:rPr>
              <a:t>Pandas, NumPy, Matplotlib, Seaborn, SciPy </a:t>
            </a:r>
          </a:p>
          <a:p>
            <a:pPr marL="0" indent="0">
              <a:buNone/>
            </a:pPr>
            <a:r>
              <a:rPr lang="en-IN" sz="1800" b="1" dirty="0">
                <a:latin typeface="Times New Roman" panose="02020603050405020304" pitchFamily="18" charset="0"/>
                <a:cs typeface="Times New Roman" panose="02020603050405020304" pitchFamily="18" charset="0"/>
              </a:rPr>
              <a:t>Development Environment:</a:t>
            </a:r>
            <a:r>
              <a:rPr lang="en-IN" sz="1800" dirty="0">
                <a:latin typeface="Times New Roman" panose="02020603050405020304" pitchFamily="18" charset="0"/>
                <a:cs typeface="Times New Roman" panose="02020603050405020304" pitchFamily="18" charset="0"/>
              </a:rPr>
              <a:t> Jupyter Notebook </a:t>
            </a:r>
          </a:p>
          <a:p>
            <a:pPr marL="0" indent="0">
              <a:buNone/>
            </a:pPr>
            <a:r>
              <a:rPr lang="en-IN" sz="1800" b="1" dirty="0">
                <a:latin typeface="Times New Roman" panose="02020603050405020304" pitchFamily="18" charset="0"/>
                <a:cs typeface="Times New Roman" panose="02020603050405020304" pitchFamily="18" charset="0"/>
              </a:rPr>
              <a:t>Dataset</a:t>
            </a:r>
            <a:r>
              <a:rPr lang="en-IN" sz="1800" dirty="0">
                <a:latin typeface="Times New Roman" panose="02020603050405020304" pitchFamily="18" charset="0"/>
                <a:cs typeface="Times New Roman" panose="02020603050405020304" pitchFamily="18" charset="0"/>
              </a:rPr>
              <a:t>: seasonal_agriculture_performance_dataset.CSV</a:t>
            </a:r>
          </a:p>
          <a:p>
            <a:pPr lvl="1">
              <a:lnSpc>
                <a:spcPct val="150000"/>
              </a:lnSpc>
            </a:pPr>
            <a:endParaRPr lang="en-IN" sz="1800" dirty="0">
              <a:latin typeface="Times New Roman" panose="02020603050405020304" pitchFamily="18" charset="0"/>
              <a:cs typeface="Times New Roman" panose="02020603050405020304" pitchFamily="18" charset="0"/>
            </a:endParaRP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467359" y="328967"/>
            <a:ext cx="5306291" cy="847817"/>
          </a:xfrm>
        </p:spPr>
        <p:txBody>
          <a:bodyPr>
            <a:normAutofit/>
          </a:bodyPr>
          <a:lstStyle/>
          <a:p>
            <a:r>
              <a:rPr lang="en-US" sz="4000" dirty="0">
                <a:latin typeface="Times New Roman" panose="02020603050405020304" pitchFamily="18" charset="0"/>
                <a:cs typeface="Times New Roman" panose="02020603050405020304" pitchFamily="18" charset="0"/>
              </a:rPr>
              <a:t>Technology Used</a:t>
            </a:r>
          </a:p>
        </p:txBody>
      </p:sp>
      <p:graphicFrame>
        <p:nvGraphicFramePr>
          <p:cNvPr id="10" name="Table 9">
            <a:extLst>
              <a:ext uri="{FF2B5EF4-FFF2-40B4-BE49-F238E27FC236}">
                <a16:creationId xmlns:a16="http://schemas.microsoft.com/office/drawing/2014/main" id="{4B1478DC-532A-06C3-26CB-4F9AAAB8989E}"/>
              </a:ext>
            </a:extLst>
          </p:cNvPr>
          <p:cNvGraphicFramePr>
            <a:graphicFrameLocks noGrp="1"/>
          </p:cNvGraphicFramePr>
          <p:nvPr>
            <p:extLst>
              <p:ext uri="{D42A27DB-BD31-4B8C-83A1-F6EECF244321}">
                <p14:modId xmlns:p14="http://schemas.microsoft.com/office/powerpoint/2010/main" val="1292892363"/>
              </p:ext>
            </p:extLst>
          </p:nvPr>
        </p:nvGraphicFramePr>
        <p:xfrm>
          <a:off x="660398" y="3443741"/>
          <a:ext cx="8382001" cy="2961640"/>
        </p:xfrm>
        <a:graphic>
          <a:graphicData uri="http://schemas.openxmlformats.org/drawingml/2006/table">
            <a:tbl>
              <a:tblPr firstRow="1" bandRow="1">
                <a:tableStyleId>{9DCAF9ED-07DC-4A11-8D7F-57B35C25682E}</a:tableStyleId>
              </a:tblPr>
              <a:tblGrid>
                <a:gridCol w="2569133">
                  <a:extLst>
                    <a:ext uri="{9D8B030D-6E8A-4147-A177-3AD203B41FA5}">
                      <a16:colId xmlns:a16="http://schemas.microsoft.com/office/drawing/2014/main" val="3694305424"/>
                    </a:ext>
                  </a:extLst>
                </a:gridCol>
                <a:gridCol w="5812868">
                  <a:extLst>
                    <a:ext uri="{9D8B030D-6E8A-4147-A177-3AD203B41FA5}">
                      <a16:colId xmlns:a16="http://schemas.microsoft.com/office/drawing/2014/main" val="3942538526"/>
                    </a:ext>
                  </a:extLst>
                </a:gridCol>
              </a:tblGrid>
              <a:tr h="370840">
                <a:tc>
                  <a:txBody>
                    <a:bodyPr/>
                    <a:lstStyle/>
                    <a:p>
                      <a:r>
                        <a:rPr lang="en-US" dirty="0">
                          <a:latin typeface="Times New Roman" panose="02020603050405020304" pitchFamily="18" charset="0"/>
                          <a:cs typeface="Times New Roman" panose="02020603050405020304" pitchFamily="18" charset="0"/>
                        </a:rPr>
                        <a:t>Technology</a:t>
                      </a:r>
                      <a:endParaRPr lang="en-IN" dirty="0">
                        <a:latin typeface="Times New Roman" panose="02020603050405020304" pitchFamily="18" charset="0"/>
                        <a:cs typeface="Times New Roman" panose="02020603050405020304" pitchFamily="18" charset="0"/>
                      </a:endParaRPr>
                    </a:p>
                  </a:txBody>
                  <a:tcPr>
                    <a:solidFill>
                      <a:schemeClr val="accent2">
                        <a:lumMod val="60000"/>
                        <a:lumOff val="40000"/>
                      </a:schemeClr>
                    </a:solidFill>
                  </a:tcPr>
                </a:tc>
                <a:tc>
                  <a:txBody>
                    <a:bodyPr/>
                    <a:lstStyle/>
                    <a:p>
                      <a:r>
                        <a:rPr lang="en-US" dirty="0">
                          <a:latin typeface="Times New Roman" panose="02020603050405020304" pitchFamily="18" charset="0"/>
                          <a:cs typeface="Times New Roman" panose="02020603050405020304" pitchFamily="18" charset="0"/>
                        </a:rPr>
                        <a:t>Purpose</a:t>
                      </a:r>
                      <a:endParaRPr lang="en-IN" dirty="0">
                        <a:latin typeface="Times New Roman" panose="02020603050405020304" pitchFamily="18" charset="0"/>
                        <a:cs typeface="Times New Roman" panose="02020603050405020304" pitchFamily="18" charset="0"/>
                      </a:endParaRPr>
                    </a:p>
                  </a:txBody>
                  <a:tcPr>
                    <a:solidFill>
                      <a:schemeClr val="accent2">
                        <a:lumMod val="60000"/>
                        <a:lumOff val="40000"/>
                      </a:schemeClr>
                    </a:solidFill>
                  </a:tcPr>
                </a:tc>
                <a:extLst>
                  <a:ext uri="{0D108BD9-81ED-4DB2-BD59-A6C34878D82A}">
                    <a16:rowId xmlns:a16="http://schemas.microsoft.com/office/drawing/2014/main" val="1574821373"/>
                  </a:ext>
                </a:extLst>
              </a:tr>
              <a:tr h="370840">
                <a:tc>
                  <a:txBody>
                    <a:bodyPr/>
                    <a:lstStyle/>
                    <a:p>
                      <a:r>
                        <a:rPr lang="en-US" dirty="0">
                          <a:latin typeface="Times New Roman" panose="02020603050405020304" pitchFamily="18" charset="0"/>
                          <a:cs typeface="Times New Roman" panose="02020603050405020304" pitchFamily="18" charset="0"/>
                        </a:rPr>
                        <a:t>Python</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Data Analysis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03911937"/>
                  </a:ext>
                </a:extLst>
              </a:tr>
              <a:tr h="0">
                <a:tc>
                  <a:txBody>
                    <a:bodyPr/>
                    <a:lstStyle/>
                    <a:p>
                      <a:r>
                        <a:rPr lang="en-US" dirty="0">
                          <a:latin typeface="Times New Roman" panose="02020603050405020304" pitchFamily="18" charset="0"/>
                          <a:cs typeface="Times New Roman" panose="02020603050405020304" pitchFamily="18" charset="0"/>
                        </a:rPr>
                        <a:t>Pandas</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Data loading, cleaning and manipulation</a:t>
                      </a:r>
                    </a:p>
                  </a:txBody>
                  <a:tcPr/>
                </a:tc>
                <a:extLst>
                  <a:ext uri="{0D108BD9-81ED-4DB2-BD59-A6C34878D82A}">
                    <a16:rowId xmlns:a16="http://schemas.microsoft.com/office/drawing/2014/main" val="1948895865"/>
                  </a:ext>
                </a:extLst>
              </a:tr>
              <a:tr h="370840">
                <a:tc>
                  <a:txBody>
                    <a:bodyPr/>
                    <a:lstStyle/>
                    <a:p>
                      <a:r>
                        <a:rPr lang="en-US" dirty="0">
                          <a:latin typeface="Times New Roman" panose="02020603050405020304" pitchFamily="18" charset="0"/>
                          <a:cs typeface="Times New Roman" panose="02020603050405020304" pitchFamily="18" charset="0"/>
                        </a:rPr>
                        <a:t>NumPy</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Numerical operations</a:t>
                      </a:r>
                    </a:p>
                  </a:txBody>
                  <a:tcPr/>
                </a:tc>
                <a:extLst>
                  <a:ext uri="{0D108BD9-81ED-4DB2-BD59-A6C34878D82A}">
                    <a16:rowId xmlns:a16="http://schemas.microsoft.com/office/drawing/2014/main" val="3041223359"/>
                  </a:ext>
                </a:extLst>
              </a:tr>
              <a:tr h="370840">
                <a:tc>
                  <a:txBody>
                    <a:bodyPr/>
                    <a:lstStyle/>
                    <a:p>
                      <a:r>
                        <a:rPr lang="en-US" dirty="0">
                          <a:latin typeface="Times New Roman" panose="02020603050405020304" pitchFamily="18" charset="0"/>
                          <a:cs typeface="Times New Roman" panose="02020603050405020304" pitchFamily="18" charset="0"/>
                        </a:rPr>
                        <a:t>Matplotlib</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Data visualization</a:t>
                      </a:r>
                    </a:p>
                  </a:txBody>
                  <a:tcPr/>
                </a:tc>
                <a:extLst>
                  <a:ext uri="{0D108BD9-81ED-4DB2-BD59-A6C34878D82A}">
                    <a16:rowId xmlns:a16="http://schemas.microsoft.com/office/drawing/2014/main" val="901893085"/>
                  </a:ext>
                </a:extLst>
              </a:tr>
              <a:tr h="370840">
                <a:tc>
                  <a:txBody>
                    <a:bodyPr/>
                    <a:lstStyle/>
                    <a:p>
                      <a:r>
                        <a:rPr lang="en-US" dirty="0">
                          <a:latin typeface="Times New Roman" panose="02020603050405020304" pitchFamily="18" charset="0"/>
                          <a:cs typeface="Times New Roman" panose="02020603050405020304" pitchFamily="18" charset="0"/>
                        </a:rPr>
                        <a:t>Seaborn</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Statistical visualization</a:t>
                      </a:r>
                    </a:p>
                  </a:txBody>
                  <a:tcPr/>
                </a:tc>
                <a:extLst>
                  <a:ext uri="{0D108BD9-81ED-4DB2-BD59-A6C34878D82A}">
                    <a16:rowId xmlns:a16="http://schemas.microsoft.com/office/drawing/2014/main" val="1796373982"/>
                  </a:ext>
                </a:extLst>
              </a:tr>
              <a:tr h="370840">
                <a:tc>
                  <a:txBody>
                    <a:bodyPr/>
                    <a:lstStyle/>
                    <a:p>
                      <a:r>
                        <a:rPr lang="en-US" dirty="0" err="1">
                          <a:latin typeface="Times New Roman" panose="02020603050405020304" pitchFamily="18" charset="0"/>
                          <a:cs typeface="Times New Roman" panose="02020603050405020304" pitchFamily="18" charset="0"/>
                        </a:rPr>
                        <a:t>Scipy</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Statistical analysis</a:t>
                      </a:r>
                    </a:p>
                  </a:txBody>
                  <a:tcPr/>
                </a:tc>
                <a:extLst>
                  <a:ext uri="{0D108BD9-81ED-4DB2-BD59-A6C34878D82A}">
                    <a16:rowId xmlns:a16="http://schemas.microsoft.com/office/drawing/2014/main" val="2124787018"/>
                  </a:ext>
                </a:extLst>
              </a:tr>
              <a:tr h="370840">
                <a:tc>
                  <a:txBody>
                    <a:bodyPr/>
                    <a:lstStyle/>
                    <a:p>
                      <a:r>
                        <a:rPr lang="en-US" dirty="0">
                          <a:latin typeface="Times New Roman" panose="02020603050405020304" pitchFamily="18" charset="0"/>
                          <a:cs typeface="Times New Roman" panose="02020603050405020304" pitchFamily="18" charset="0"/>
                        </a:rPr>
                        <a:t>Jupyter Notebook</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Complete project documentation</a:t>
                      </a:r>
                    </a:p>
                  </a:txBody>
                  <a:tcPr/>
                </a:tc>
                <a:extLst>
                  <a:ext uri="{0D108BD9-81ED-4DB2-BD59-A6C34878D82A}">
                    <a16:rowId xmlns:a16="http://schemas.microsoft.com/office/drawing/2014/main" val="182594167"/>
                  </a:ext>
                </a:extLst>
              </a:tr>
            </a:tbl>
          </a:graphicData>
        </a:graphic>
      </p:graphicFrame>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429069" y="123701"/>
            <a:ext cx="2981643" cy="830997"/>
          </a:xfrm>
        </p:spPr>
        <p:txBody>
          <a:bodyPr>
            <a:normAutofit/>
          </a:bodyPr>
          <a:lstStyle/>
          <a:p>
            <a:r>
              <a:rPr lang="en-GB" sz="4000" dirty="0">
                <a:latin typeface="Times New Roman" panose="02020603050405020304" pitchFamily="18" charset="0"/>
                <a:cs typeface="Times New Roman" panose="02020603050405020304" pitchFamily="18" charset="0"/>
              </a:rPr>
              <a:t>RESULTS </a:t>
            </a:r>
            <a:endParaRPr lang="en-IN" sz="40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4927509D-CE09-2EE0-6F10-74C1C67C0CBA}"/>
              </a:ext>
            </a:extLst>
          </p:cNvPr>
          <p:cNvPicPr>
            <a:picLocks noChangeAspect="1"/>
          </p:cNvPicPr>
          <p:nvPr/>
        </p:nvPicPr>
        <p:blipFill>
          <a:blip r:embed="rId3"/>
          <a:stretch>
            <a:fillRect/>
          </a:stretch>
        </p:blipFill>
        <p:spPr>
          <a:xfrm>
            <a:off x="502856" y="1034343"/>
            <a:ext cx="5265500" cy="4450826"/>
          </a:xfrm>
          <a:prstGeom prst="rect">
            <a:avLst/>
          </a:prstGeom>
        </p:spPr>
      </p:pic>
      <p:pic>
        <p:nvPicPr>
          <p:cNvPr id="12" name="Picture 11">
            <a:extLst>
              <a:ext uri="{FF2B5EF4-FFF2-40B4-BE49-F238E27FC236}">
                <a16:creationId xmlns:a16="http://schemas.microsoft.com/office/drawing/2014/main" id="{3F5CA2C0-2E57-7F2A-FFDC-A90D57CDE8EE}"/>
              </a:ext>
            </a:extLst>
          </p:cNvPr>
          <p:cNvPicPr>
            <a:picLocks noChangeAspect="1"/>
          </p:cNvPicPr>
          <p:nvPr/>
        </p:nvPicPr>
        <p:blipFill>
          <a:blip r:embed="rId4"/>
          <a:stretch>
            <a:fillRect/>
          </a:stretch>
        </p:blipFill>
        <p:spPr>
          <a:xfrm>
            <a:off x="6096000" y="1034343"/>
            <a:ext cx="5436093" cy="490315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AA60F812-9BCF-9533-B2CE-3B23FFAF0A1C}"/>
              </a:ext>
            </a:extLst>
          </p:cNvPr>
          <p:cNvPicPr>
            <a:picLocks noChangeAspect="1"/>
          </p:cNvPicPr>
          <p:nvPr/>
        </p:nvPicPr>
        <p:blipFill>
          <a:blip r:embed="rId3"/>
          <a:stretch>
            <a:fillRect/>
          </a:stretch>
        </p:blipFill>
        <p:spPr>
          <a:xfrm>
            <a:off x="320982" y="1074104"/>
            <a:ext cx="5417345" cy="3982006"/>
          </a:xfrm>
          <a:prstGeom prst="rect">
            <a:avLst/>
          </a:prstGeom>
        </p:spPr>
      </p:pic>
      <p:pic>
        <p:nvPicPr>
          <p:cNvPr id="6" name="Picture 5">
            <a:extLst>
              <a:ext uri="{FF2B5EF4-FFF2-40B4-BE49-F238E27FC236}">
                <a16:creationId xmlns:a16="http://schemas.microsoft.com/office/drawing/2014/main" id="{6C493CD5-29F9-F402-A565-5B807F49D0BD}"/>
              </a:ext>
            </a:extLst>
          </p:cNvPr>
          <p:cNvPicPr>
            <a:picLocks noChangeAspect="1"/>
          </p:cNvPicPr>
          <p:nvPr/>
        </p:nvPicPr>
        <p:blipFill>
          <a:blip r:embed="rId4"/>
          <a:stretch>
            <a:fillRect/>
          </a:stretch>
        </p:blipFill>
        <p:spPr>
          <a:xfrm>
            <a:off x="6017474" y="1074104"/>
            <a:ext cx="5604840" cy="4039164"/>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3A739145-4538-D1BE-A610-DC639C66543C}"/>
              </a:ext>
            </a:extLst>
          </p:cNvPr>
          <p:cNvPicPr>
            <a:picLocks noChangeAspect="1"/>
          </p:cNvPicPr>
          <p:nvPr/>
        </p:nvPicPr>
        <p:blipFill>
          <a:blip r:embed="rId3"/>
          <a:stretch>
            <a:fillRect/>
          </a:stretch>
        </p:blipFill>
        <p:spPr>
          <a:xfrm>
            <a:off x="797986" y="438538"/>
            <a:ext cx="8002117" cy="5216816"/>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A7D9E440-D73C-28C4-81AB-BDED88D0D57D}"/>
              </a:ext>
            </a:extLst>
          </p:cNvPr>
          <p:cNvPicPr>
            <a:picLocks noChangeAspect="1"/>
          </p:cNvPicPr>
          <p:nvPr/>
        </p:nvPicPr>
        <p:blipFill>
          <a:blip r:embed="rId3"/>
          <a:stretch>
            <a:fillRect/>
          </a:stretch>
        </p:blipFill>
        <p:spPr>
          <a:xfrm>
            <a:off x="783773" y="979623"/>
            <a:ext cx="8276252" cy="4096322"/>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E0A2178E-FD39-752F-1797-FA2ABBF83318}"/>
              </a:ext>
            </a:extLst>
          </p:cNvPr>
          <p:cNvPicPr>
            <a:picLocks noChangeAspect="1"/>
          </p:cNvPicPr>
          <p:nvPr/>
        </p:nvPicPr>
        <p:blipFill>
          <a:blip r:embed="rId3"/>
          <a:stretch>
            <a:fillRect/>
          </a:stretch>
        </p:blipFill>
        <p:spPr>
          <a:xfrm>
            <a:off x="675957" y="433484"/>
            <a:ext cx="8135485" cy="6134956"/>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latin typeface="Times New Roman" panose="02020603050405020304" pitchFamily="18" charset="0"/>
                <a:cs typeface="Times New Roman" panose="02020603050405020304" pitchFamily="18" charset="0"/>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758BEA0B-63CB-1981-A2FD-75402C17B01D}"/>
              </a:ext>
            </a:extLst>
          </p:cNvPr>
          <p:cNvSpPr txBox="1"/>
          <p:nvPr/>
        </p:nvSpPr>
        <p:spPr>
          <a:xfrm>
            <a:off x="587828" y="1110342"/>
            <a:ext cx="7798930" cy="4653646"/>
          </a:xfrm>
          <a:prstGeom prst="rect">
            <a:avLst/>
          </a:prstGeom>
          <a:noFill/>
        </p:spPr>
        <p:txBody>
          <a:bodyPr wrap="none" rtlCol="0">
            <a:spAutoFit/>
          </a:bodyPr>
          <a:lstStyle/>
          <a:p>
            <a:pPr>
              <a:lnSpc>
                <a:spcPct val="150000"/>
              </a:lnSpc>
            </a:pPr>
            <a:r>
              <a:rPr lang="en-IN" sz="2000" dirty="0">
                <a:latin typeface="Times New Roman" panose="02020603050405020304" pitchFamily="18" charset="0"/>
                <a:cs typeface="Times New Roman" panose="02020603050405020304" pitchFamily="18" charset="0"/>
              </a:rPr>
              <a:t>The project can be extended by:</a:t>
            </a:r>
          </a:p>
          <a:p>
            <a:pPr marL="342900" lvl="0" indent="-342900">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Integrating real-time weather data. </a:t>
            </a:r>
          </a:p>
          <a:p>
            <a:pPr marL="342900" lvl="0" indent="-342900">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Using larger agricultural datasets.  </a:t>
            </a:r>
          </a:p>
          <a:p>
            <a:pPr marL="342900" lvl="0" indent="-342900">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Developing predictive models for crop yield. </a:t>
            </a:r>
          </a:p>
          <a:p>
            <a:pPr marL="342900" lvl="0" indent="-342900">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Forecasting seasonal agricultural performance. </a:t>
            </a:r>
          </a:p>
          <a:p>
            <a:pPr marL="342900" lvl="0" indent="-342900">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Developing an interactive dashboard using Power BI or </a:t>
            </a:r>
            <a:r>
              <a:rPr lang="en-IN" sz="2000" dirty="0" err="1">
                <a:latin typeface="Times New Roman" panose="02020603050405020304" pitchFamily="18" charset="0"/>
                <a:cs typeface="Times New Roman" panose="02020603050405020304" pitchFamily="18" charset="0"/>
              </a:rPr>
              <a:t>Streamlit</a:t>
            </a:r>
            <a:r>
              <a:rPr lang="en-IN" sz="2000" dirty="0">
                <a:latin typeface="Times New Roman" panose="02020603050405020304" pitchFamily="18" charset="0"/>
                <a:cs typeface="Times New Roman" panose="02020603050405020304" pitchFamily="18" charset="0"/>
              </a:rPr>
              <a:t>. </a:t>
            </a:r>
          </a:p>
          <a:p>
            <a:pPr marL="342900" lvl="0" indent="-342900">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Applying machine learning to predict yield and profit. </a:t>
            </a:r>
          </a:p>
          <a:p>
            <a:pPr marL="342900" lvl="0" indent="-342900">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Developing a recommendation system for crop and seasonal planning. </a:t>
            </a:r>
          </a:p>
          <a:p>
            <a:pPr marL="342900" lvl="0" indent="-342900">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Integrating real-time market price information.</a:t>
            </a:r>
          </a:p>
          <a:p>
            <a:pPr marL="342900" indent="-342900">
              <a:lnSpc>
                <a:spcPct val="150000"/>
              </a:lnSpc>
              <a:buFont typeface="Wingdings" panose="05000000000000000000" pitchFamily="2" charset="2"/>
              <a:buChar char="v"/>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320982" y="1110452"/>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F17886B4-827C-810A-142A-0400DA2D3282}"/>
              </a:ext>
            </a:extLst>
          </p:cNvPr>
          <p:cNvSpPr txBox="1"/>
          <p:nvPr/>
        </p:nvSpPr>
        <p:spPr>
          <a:xfrm>
            <a:off x="251928" y="2509935"/>
            <a:ext cx="9817431" cy="523220"/>
          </a:xfrm>
          <a:prstGeom prst="rect">
            <a:avLst/>
          </a:prstGeom>
          <a:noFill/>
        </p:spPr>
        <p:txBody>
          <a:bodyPr wrap="none" rtlCol="0">
            <a:spAutoFit/>
          </a:bodyPr>
          <a:lstStyle/>
          <a:p>
            <a:r>
              <a:rPr lang="en-IN" sz="2800" dirty="0">
                <a:solidFill>
                  <a:srgbClr val="C00000"/>
                </a:solidFill>
                <a:latin typeface="Bell MT" panose="02020503060305020303" pitchFamily="18" charset="0"/>
                <a:hlinkClick r:id="rId3">
                  <a:extLst>
                    <a:ext uri="{A12FA001-AC4F-418D-AE19-62706E023703}">
                      <ahyp:hlinkClr xmlns:ahyp="http://schemas.microsoft.com/office/drawing/2018/hyperlinkcolor" val="tx"/>
                    </a:ext>
                  </a:extLst>
                </a:hlinkClick>
              </a:rPr>
              <a:t>https://github.com/sudeepthi0530/Data_analysis_Major_project</a:t>
            </a:r>
            <a:endParaRPr lang="en-IN" sz="2800" dirty="0">
              <a:solidFill>
                <a:srgbClr val="C00000"/>
              </a:solidFill>
              <a:latin typeface="Bell MT" panose="02020503060305020303" pitchFamily="18" charset="0"/>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386708" y="370589"/>
            <a:ext cx="10679398" cy="904782"/>
          </a:xfrm>
        </p:spPr>
        <p:txBody>
          <a:bodyPr>
            <a:noAutofit/>
          </a:bodyPr>
          <a:lstStyle/>
          <a:p>
            <a:r>
              <a:rPr lang="en-IN" sz="4000" dirty="0">
                <a:latin typeface="Times New Roman" panose="02020603050405020304" pitchFamily="18" charset="0"/>
                <a:cs typeface="Times New Roman" panose="02020603050405020304" pitchFamily="18" charset="0"/>
              </a:rPr>
              <a:t>VOIS Course completion certificate - </a:t>
            </a:r>
            <a:br>
              <a:rPr lang="en-IN" sz="4000" dirty="0">
                <a:latin typeface="Times New Roman" panose="02020603050405020304" pitchFamily="18" charset="0"/>
                <a:cs typeface="Times New Roman" panose="02020603050405020304" pitchFamily="18" charset="0"/>
              </a:rPr>
            </a:br>
            <a:r>
              <a:rPr lang="en-IN" sz="4000" dirty="0">
                <a:latin typeface="Times New Roman" panose="02020603050405020304" pitchFamily="18" charset="0"/>
                <a:cs typeface="Times New Roman" panose="02020603050405020304" pitchFamily="18" charset="0"/>
              </a:rPr>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7A109BCD-48EF-A623-697E-E392947489AA}"/>
              </a:ext>
            </a:extLst>
          </p:cNvPr>
          <p:cNvPicPr>
            <a:picLocks noChangeAspect="1"/>
          </p:cNvPicPr>
          <p:nvPr/>
        </p:nvPicPr>
        <p:blipFill>
          <a:blip r:embed="rId3"/>
          <a:stretch>
            <a:fillRect/>
          </a:stretch>
        </p:blipFill>
        <p:spPr>
          <a:xfrm>
            <a:off x="1077869" y="1889800"/>
            <a:ext cx="7449590" cy="463377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0" y="3037024"/>
            <a:ext cx="11340000" cy="700114"/>
          </a:xfrm>
          <a:prstGeom prst="rect">
            <a:avLst/>
          </a:prstGeom>
        </p:spPr>
        <p:txBody>
          <a:bodyPr anchor="ctr">
            <a:noAutofit/>
          </a:bodyPr>
          <a:lstStyle/>
          <a:p>
            <a:pPr algn="ctr"/>
            <a:r>
              <a:rPr lang="en-US" sz="7200" b="1" dirty="0">
                <a:solidFill>
                  <a:schemeClr val="tx1"/>
                </a:solidFill>
                <a:latin typeface="Algerian" panose="04020705040A02060702" pitchFamily="82"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614</TotalTime>
  <Words>606</Words>
  <Application>Microsoft Office PowerPoint</Application>
  <PresentationFormat>Widescreen</PresentationFormat>
  <Paragraphs>87</Paragraphs>
  <Slides>15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Algerian</vt:lpstr>
      <vt:lpstr>Arial</vt:lpstr>
      <vt:lpstr>Bell MT</vt:lpstr>
      <vt:lpstr>Calibri</vt:lpstr>
      <vt:lpstr>Times New Roman</vt:lpstr>
      <vt:lpstr>Trebuchet MS</vt:lpstr>
      <vt:lpstr>Wingdings</vt:lpstr>
      <vt:lpstr>Wingdings 3</vt:lpstr>
      <vt:lpstr>Facet</vt:lpstr>
      <vt:lpstr>Project Title  Seasonal Agriculture Performance Analysis  </vt:lpstr>
      <vt:lpstr>PROBLEM  STATEMENT</vt:lpstr>
      <vt:lpstr>Project Description  </vt:lpstr>
      <vt:lpstr>Objective </vt:lpstr>
      <vt:lpstr>WHO ARE THE END USERS?</vt:lpstr>
      <vt:lpstr>Technology Used</vt:lpstr>
      <vt:lpstr>RESULTS </vt:lpstr>
      <vt:lpstr>PowerPoint Presentation</vt:lpstr>
      <vt:lpstr>PowerPoint Presentation</vt:lpstr>
      <vt:lpstr>PowerPoint Presentation</vt:lpstr>
      <vt:lpstr>PowerPoint Presentation</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sudupthi poojary</cp:lastModifiedBy>
  <cp:revision>101</cp:revision>
  <dcterms:created xsi:type="dcterms:W3CDTF">2021-07-11T13:13:15Z</dcterms:created>
  <dcterms:modified xsi:type="dcterms:W3CDTF">2026-09-09T07:51:25Z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